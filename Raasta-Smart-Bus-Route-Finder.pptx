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arlow"/>
      <p:regular r:id="rId201314"/>
    </p:embeddedFont>
    <p:embeddedFont>
      <p:font typeface="Barlow Bold"/>
      <p:regular r:id="rId201315"/>
    </p:embeddedFont>
    <p:embeddedFont>
      <p:font typeface="Spline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1.png"/><Relationship Id="rId10" Type="http://schemas.openxmlformats.org/officeDocument/2006/relationships/image" Target="../media/image-6-2.svg"/><Relationship Id="rId11" Type="http://schemas.openxmlformats.org/officeDocument/2006/relationships/image" Target="../media/image-6-3.png"/><Relationship Id="rId12" Type="http://schemas.openxmlformats.org/officeDocument/2006/relationships/image" Target="../media/image-6-4.svg"/><Relationship Id="rId13" Type="http://schemas.openxmlformats.org/officeDocument/2006/relationships/image" Target="../media/image-6-5.png"/><Relationship Id="rId14" Type="http://schemas.openxmlformats.org/officeDocument/2006/relationships/image" Target="../media/image-6-6.svg"/><Relationship Id="rId15" Type="http://schemas.openxmlformats.org/officeDocument/2006/relationships/image" Target="../media/image-6-15.jpe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1937345"/>
            <a:ext cx="617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Raasta – Smart Bus Route Finder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5291898" y="3388916"/>
            <a:ext cx="617978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web-based platform that transforms Karachi's complex bus network into simple, step-by-step journeys — for everyone who needs to get from A to B.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291898" y="4607917"/>
            <a:ext cx="2459968" cy="312638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6" name="Text 3"/>
          <p:cNvSpPr/>
          <p:nvPr/>
        </p:nvSpPr>
        <p:spPr>
          <a:xfrm>
            <a:off x="5415323" y="4669631"/>
            <a:ext cx="2822703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WEB DEVELOPMENT PROJECT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854654" y="4607917"/>
            <a:ext cx="1707314" cy="312638"/>
          </a:xfrm>
          <a:prstGeom prst="roundRect">
            <a:avLst>
              <a:gd name="adj" fmla="val 49999"/>
            </a:avLst>
          </a:prstGeom>
          <a:noFill/>
          <a:ln w="19050">
            <a:solidFill>
              <a:srgbClr val="16FF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78079" y="4669631"/>
            <a:ext cx="2070048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KARACHI, PAKISTAN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579636"/>
            <a:ext cx="6179784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Problem Raasta Solves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291898" y="1281509"/>
            <a:ext cx="6179784" cy="512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Most people in Karachi know </a:t>
            </a:r>
            <a:pPr algn="l" indent="0" marL="0">
              <a:lnSpc>
                <a:spcPct val="123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where</a:t>
            </a:r>
            <a:pPr algn="l" indent="0" marL="0">
              <a:lnSpc>
                <a:spcPct val="123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they want to go — but not </a:t>
            </a:r>
            <a:pPr algn="l" indent="0" marL="0">
              <a:lnSpc>
                <a:spcPct val="123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how</a:t>
            </a:r>
            <a:pPr algn="l" indent="0" marL="0">
              <a:lnSpc>
                <a:spcPct val="123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to get there by bus.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291898" y="1958380"/>
            <a:ext cx="6179784" cy="970161"/>
          </a:xfrm>
          <a:prstGeom prst="roundRect">
            <a:avLst>
              <a:gd name="adj" fmla="val 26839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4477" y="2150963"/>
            <a:ext cx="579462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Which bus?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4477" y="2479873"/>
            <a:ext cx="5794627" cy="256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Bus numbers and route names are unfamiliar to most riders.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91898" y="3074988"/>
            <a:ext cx="6179784" cy="970161"/>
          </a:xfrm>
          <a:prstGeom prst="roundRect">
            <a:avLst>
              <a:gd name="adj" fmla="val 26839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4477" y="3267571"/>
            <a:ext cx="579462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Where to board?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4477" y="3596481"/>
            <a:ext cx="5794627" cy="256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Nearest stops are rarely obvious or well-signposted.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291898" y="4191595"/>
            <a:ext cx="6179784" cy="970161"/>
          </a:xfrm>
          <a:prstGeom prst="roundRect">
            <a:avLst>
              <a:gd name="adj" fmla="val 26839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4477" y="4384179"/>
            <a:ext cx="579462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Need to change?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4477" y="4713089"/>
            <a:ext cx="5794627" cy="256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Multi-bus journeys are confusing without clear guidance.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291898" y="5308203"/>
            <a:ext cx="6179784" cy="970161"/>
          </a:xfrm>
          <a:prstGeom prst="roundRect">
            <a:avLst>
              <a:gd name="adj" fmla="val 26839"/>
            </a:avLst>
          </a:prstGeom>
          <a:solidFill>
            <a:srgbClr val="0A081B"/>
          </a:solidFill>
          <a:ln w="19050">
            <a:solidFill>
              <a:srgbClr val="09123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4477" y="5500787"/>
            <a:ext cx="579462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Which roads?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484477" y="5829697"/>
            <a:ext cx="5794627" cy="256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Riders don't know which streets their bus travels.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71500"/>
            <a:ext cx="10751670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How a Journey Looks in Raasta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20012" y="1106488"/>
            <a:ext cx="11361255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Example:</a:t>
            </a:r>
            <a:pPr algn="l" indent="0" marL="0">
              <a:lnSpc>
                <a:spcPct val="109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Gulshan-e-Iqbal → Saddar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374378"/>
            <a:ext cx="10751670" cy="46442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85642" y="4875081"/>
            <a:ext cx="1596428" cy="258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Bus 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285642" y="5216247"/>
            <a:ext cx="1596428" cy="38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Board Route A via NIPA, Hasan Square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84858" y="4684306"/>
            <a:ext cx="1596429" cy="258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Change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84858" y="5025472"/>
            <a:ext cx="1596429" cy="572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Swap at interchange to Route B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241122" y="1793444"/>
            <a:ext cx="1596428" cy="258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Start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41122" y="2134610"/>
            <a:ext cx="1596428" cy="38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Gulshan-e-Iqbal, walk to stop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368481" y="1793444"/>
            <a:ext cx="1596428" cy="258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Arrive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368481" y="2134610"/>
            <a:ext cx="1596428" cy="38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Take Route B to Saddar destination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360692" y="1793444"/>
            <a:ext cx="1596427" cy="258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Continue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60692" y="2134610"/>
            <a:ext cx="1596427" cy="38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Pass Civic Centre on Route A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20012" y="6113562"/>
            <a:ext cx="11361255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Raasta breaks every journey into clear, numbered steps — telling you exactly where to walk, which bus to take, where to change, and when you've arrived.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931565"/>
            <a:ext cx="1719517" cy="312638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843437" y="993279"/>
            <a:ext cx="208225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CORE CONCEPT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20012" y="1326455"/>
            <a:ext cx="5687573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"Tell us where you want to go, and we explain how to get there."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20012" y="3246636"/>
            <a:ext cx="5687573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Raasta is not just another route listing website. It is a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plain-language navigation assistant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for public transport — designed for people who have never memorized a bus number in their lives.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20012" y="4794845"/>
            <a:ext cx="5687573" cy="1131491"/>
          </a:xfrm>
          <a:prstGeom prst="roundRect">
            <a:avLst>
              <a:gd name="adj" fmla="val 27274"/>
            </a:avLst>
          </a:prstGeom>
          <a:solidFill>
            <a:srgbClr val="00805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688" y="5113238"/>
            <a:ext cx="257169" cy="205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8532" y="5031383"/>
            <a:ext cx="4813378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route knowledge required. Just enter your destination.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771" y="2136279"/>
            <a:ext cx="4562162" cy="25852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700980"/>
            <a:ext cx="6179784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Who Raasta Is Built For</a:t>
            </a:r>
            <a:endParaRPr lang="en-US" sz="3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12" y="1507927"/>
            <a:ext cx="385753" cy="3857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31780" y="1574205"/>
            <a:ext cx="5568017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Students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1331780" y="1950541"/>
            <a:ext cx="5568017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Navigating between campuses, hostels, and homes across the city.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0012" y="2611140"/>
            <a:ext cx="385753" cy="3857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31780" y="2677418"/>
            <a:ext cx="5568017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Daily Commuters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1331780" y="3053755"/>
            <a:ext cx="5568017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Workers who need reliable, repeatable routes every weekday.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0012" y="3714353"/>
            <a:ext cx="385753" cy="3857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31780" y="3780631"/>
            <a:ext cx="5568017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New Residents &amp; Visitors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1331780" y="4156968"/>
            <a:ext cx="5568017" cy="597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People unfamiliar with Karachi's bus network who need clear guidance.</a:t>
            </a:r>
            <a:endParaRPr lang="en-US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0012" y="5116513"/>
            <a:ext cx="385753" cy="38576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331780" y="5182791"/>
            <a:ext cx="5568017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Frequent Public Transport Users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1331780" y="5559127"/>
            <a:ext cx="5568017" cy="597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Anyone who relies on buses and wants smarter, faster journey planning.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69416"/>
            <a:ext cx="10751670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Core Features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12" y="1099046"/>
            <a:ext cx="3569305" cy="6675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5646" y="1233884"/>
            <a:ext cx="324883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Destination Search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905646" y="1476077"/>
            <a:ext cx="3248837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From → To search with landmark support.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012" y="1839119"/>
            <a:ext cx="3569305" cy="6675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5646" y="1973957"/>
            <a:ext cx="324883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Step-by-Step Instructions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905646" y="2216150"/>
            <a:ext cx="3248837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Walk, board, change, and arrive — all explained clearly.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012" y="2579191"/>
            <a:ext cx="3569305" cy="6675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5646" y="2714030"/>
            <a:ext cx="324883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Route Comparison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905646" y="2956223"/>
            <a:ext cx="3248837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See multiple options and pick the simplest journey.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0012" y="3319264"/>
            <a:ext cx="3569305" cy="6675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05646" y="3454102"/>
            <a:ext cx="324883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Interactive Map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905646" y="3696295"/>
            <a:ext cx="3248837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Visualize your route with roads and stops highlighted.</a:t>
            </a:r>
            <a:endParaRPr lang="en-US" sz="9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0012" y="4059337"/>
            <a:ext cx="3569305" cy="6675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05646" y="4194175"/>
            <a:ext cx="324883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Bilingual Support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905646" y="4436368"/>
            <a:ext cx="3248837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Fully available in English and Urdu.</a:t>
            </a:r>
            <a:endParaRPr lang="en-US" sz="9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0012" y="4799409"/>
            <a:ext cx="3569305" cy="66754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05646" y="4934248"/>
            <a:ext cx="324883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Community Updates</a:t>
            </a:r>
            <a:endParaRPr lang="en-US" sz="1050" dirty="0"/>
          </a:p>
        </p:txBody>
      </p:sp>
      <p:sp>
        <p:nvSpPr>
          <p:cNvPr id="20" name="Text 12"/>
          <p:cNvSpPr/>
          <p:nvPr/>
        </p:nvSpPr>
        <p:spPr>
          <a:xfrm>
            <a:off x="905646" y="5176441"/>
            <a:ext cx="3248837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Users can suggest route and stop changes.</a:t>
            </a:r>
            <a:endParaRPr lang="en-US" sz="9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0012" y="5539482"/>
            <a:ext cx="3569305" cy="66754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905646" y="5674320"/>
            <a:ext cx="324883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Mobile-Friendly</a:t>
            </a:r>
            <a:endParaRPr lang="en-US" sz="1050" dirty="0"/>
          </a:p>
        </p:txBody>
      </p:sp>
      <p:sp>
        <p:nvSpPr>
          <p:cNvPr id="23" name="Text 14"/>
          <p:cNvSpPr/>
          <p:nvPr/>
        </p:nvSpPr>
        <p:spPr>
          <a:xfrm>
            <a:off x="905646" y="5916513"/>
            <a:ext cx="3248837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Responsive design for on-the-go use.</a:t>
            </a:r>
            <a:endParaRPr lang="en-US" sz="9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93713" y="1702495"/>
            <a:ext cx="6884220" cy="39010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65745"/>
            <a:ext cx="107516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Built for Karachi, Designed for Pakistan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720012" y="954286"/>
            <a:ext cx="11361255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Raasta launches in Karachi — but the architecture is </a:t>
            </a:r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city-independent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from day one, ready to scale nationwide.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193403"/>
            <a:ext cx="5250426" cy="52505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27607" y="3432274"/>
            <a:ext cx="52504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 Scalable Foundation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227607" y="3626545"/>
            <a:ext cx="5250426" cy="24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city's data — routes, stops, roads, and coordinates — is stored in an identical structure, making expansion as simple as adding a new city record.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227607" y="3931245"/>
            <a:ext cx="5250426" cy="267295"/>
          </a:xfrm>
          <a:prstGeom prst="roundRect">
            <a:avLst>
              <a:gd name="adj" fmla="val 49999"/>
            </a:avLst>
          </a:prstGeom>
          <a:solidFill>
            <a:srgbClr val="02234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395" y="4019947"/>
            <a:ext cx="128584" cy="1027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61767" y="4003179"/>
            <a:ext cx="5423062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Future cities are added without rewriting the platform — only the data layer expands.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03151"/>
            <a:ext cx="10751670" cy="473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Technology Stack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720012" y="1358602"/>
            <a:ext cx="5305292" cy="2198291"/>
          </a:xfrm>
          <a:prstGeom prst="roundRect">
            <a:avLst>
              <a:gd name="adj" fmla="val 11625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9416" y="1548011"/>
            <a:ext cx="511063" cy="511076"/>
          </a:xfrm>
          <a:prstGeom prst="ellipse">
            <a:avLst/>
          </a:prstGeom>
          <a:solidFill>
            <a:srgbClr val="16FFB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9907" y="1688505"/>
            <a:ext cx="229983" cy="2299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9416" y="2200176"/>
            <a:ext cx="4926485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Frontend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09416" y="2521446"/>
            <a:ext cx="4926485" cy="846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Next.js</a:t>
            </a:r>
            <a:endParaRPr lang="en-US" sz="1300" dirty="0"/>
          </a:p>
          <a:p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React</a:t>
            </a:r>
            <a:endParaRPr lang="en-US" sz="1300" dirty="0"/>
          </a:p>
          <a:p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Material UI (MUI)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66390" y="1358602"/>
            <a:ext cx="5305292" cy="2198291"/>
          </a:xfrm>
          <a:prstGeom prst="roundRect">
            <a:avLst>
              <a:gd name="adj" fmla="val 11625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55794" y="1548011"/>
            <a:ext cx="511063" cy="511076"/>
          </a:xfrm>
          <a:prstGeom prst="ellipse">
            <a:avLst/>
          </a:prstGeom>
          <a:solidFill>
            <a:srgbClr val="29DDD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6284" y="1688505"/>
            <a:ext cx="229983" cy="22998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55794" y="2200176"/>
            <a:ext cx="4926485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Backend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355794" y="2521446"/>
            <a:ext cx="4926485" cy="547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Node.js</a:t>
            </a:r>
            <a:endParaRPr lang="en-US" sz="1300" dirty="0"/>
          </a:p>
          <a:p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Express.js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20012" y="3697982"/>
            <a:ext cx="5305292" cy="1899841"/>
          </a:xfrm>
          <a:prstGeom prst="roundRect">
            <a:avLst>
              <a:gd name="adj" fmla="val 13452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09416" y="3887391"/>
            <a:ext cx="511063" cy="511076"/>
          </a:xfrm>
          <a:prstGeom prst="ellipse">
            <a:avLst/>
          </a:prstGeom>
          <a:solidFill>
            <a:srgbClr val="37A7E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9907" y="4027884"/>
            <a:ext cx="229983" cy="22998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9416" y="4539555"/>
            <a:ext cx="4926485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909416" y="4860826"/>
            <a:ext cx="492648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MongoDB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66390" y="3697982"/>
            <a:ext cx="5305292" cy="1899841"/>
          </a:xfrm>
          <a:prstGeom prst="roundRect">
            <a:avLst>
              <a:gd name="adj" fmla="val 13452"/>
            </a:avLst>
          </a:prstGeom>
          <a:solidFill>
            <a:srgbClr val="0A081B"/>
          </a:solidFill>
          <a:ln w="19050">
            <a:solidFill>
              <a:srgbClr val="09123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55794" y="3887391"/>
            <a:ext cx="511063" cy="511076"/>
          </a:xfrm>
          <a:prstGeom prst="ellipse">
            <a:avLst/>
          </a:prstGeom>
          <a:solidFill>
            <a:srgbClr val="09123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96284" y="4027884"/>
            <a:ext cx="229983" cy="22998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55794" y="4539555"/>
            <a:ext cx="4926485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Maps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355794" y="4860826"/>
            <a:ext cx="4926485" cy="547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OpenStreetMap</a:t>
            </a:r>
            <a:endParaRPr lang="en-US" sz="1300" dirty="0"/>
          </a:p>
          <a:p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Compatible mapping services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20012" y="5756473"/>
            <a:ext cx="10751670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modern, JavaScript-first stack chosen for speed, flexibility, and strong community support — ideal for a responsive, map-heavy navigation platform.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65745"/>
            <a:ext cx="107516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Database Structure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720012" y="954286"/>
            <a:ext cx="11361255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is organized in a clean, nested hierarchy — making it straightforward to add new cities without restructuring the entire system.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193403"/>
            <a:ext cx="5250426" cy="52505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27607" y="3600648"/>
            <a:ext cx="52504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Why This Structure Works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227607" y="3794919"/>
            <a:ext cx="5250426" cy="24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level is self-contained and repeatable. Adding Lahore or Islamabad means inserting a new </a:t>
            </a:r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City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record — all routes, stops, and coordinates follow the same schema.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313" y="6546949"/>
            <a:ext cx="3553728" cy="3225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8200" y="6559649"/>
            <a:ext cx="341284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City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848200" y="6733381"/>
            <a:ext cx="3412841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Top-level container for all data.</a:t>
            </a:r>
            <a:endParaRPr lang="en-US" sz="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2634" y="6546949"/>
            <a:ext cx="3553728" cy="3225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53521" y="6559649"/>
            <a:ext cx="341284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Routes → Bus → Stops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4453521" y="6733381"/>
            <a:ext cx="3412841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Linked journey data per city.</a:t>
            </a:r>
            <a:endParaRPr lang="en-US" sz="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17954" y="6546949"/>
            <a:ext cx="3553728" cy="3225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58841" y="6559649"/>
            <a:ext cx="341284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Roads → Coordinates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8058841" y="6733381"/>
            <a:ext cx="3412841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Precise location data for mapping.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65745"/>
            <a:ext cx="107516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System Architecture</a:t>
            </a:r>
            <a:endParaRPr lang="en-US" sz="1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968" y="954286"/>
            <a:ext cx="10689660" cy="57440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3409" y="1576873"/>
            <a:ext cx="2150312" cy="2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User Frontend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004850" y="1931683"/>
            <a:ext cx="2558871" cy="362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Next.js/React handles UI and interactions.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27706" y="2394012"/>
            <a:ext cx="2150312" cy="2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API Layer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627706" y="2748822"/>
            <a:ext cx="2558871" cy="362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Express.js processes requests and business logic.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3409" y="3232654"/>
            <a:ext cx="2150312" cy="2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Database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004850" y="3587465"/>
            <a:ext cx="2558871" cy="362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MongoDB stores routes and stop data.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27706" y="4168063"/>
            <a:ext cx="2150312" cy="2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Mapping Service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627706" y="4522874"/>
            <a:ext cx="2558871" cy="362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OpenStreetMap provides live map tiles and routing.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413409" y="5049713"/>
            <a:ext cx="2150312" cy="2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Live Flow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004850" y="5404524"/>
            <a:ext cx="2558871" cy="362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User actions propagate through API to map.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20012" y="6756202"/>
            <a:ext cx="11361255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clean separation of concerns — the frontend handles the user experience, the API manages logic, and the database stores all route and location data. The map service renders journeys visually.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20012" y="6937474"/>
            <a:ext cx="10751670" cy="528141"/>
          </a:xfrm>
          <a:prstGeom prst="roundRect">
            <a:avLst>
              <a:gd name="adj" fmla="val 29216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2712" y="6950174"/>
            <a:ext cx="3575357" cy="502741"/>
          </a:xfrm>
          <a:custGeom>
            <a:avLst/>
            <a:gdLst/>
            <a:ahLst/>
            <a:cxnLst/>
            <a:rect l="l" t="t" r="r" b="b"/>
            <a:pathLst>
              <a:path w="3575357" h="502741">
                <a:moveTo>
                  <a:pt x="128584" y="0"/>
                </a:moveTo>
                <a:lnTo>
                  <a:pt x="3575357" y="0"/>
                </a:lnTo>
                <a:lnTo>
                  <a:pt x="3575357" y="502741"/>
                </a:lnTo>
                <a:lnTo>
                  <a:pt x="128584" y="502741"/>
                </a:lnTo>
                <a:arcTo hR="128588" wR="128584" stAng="5400000" swAng="5400000"/>
                <a:lnTo>
                  <a:pt x="0" y="128588"/>
                </a:lnTo>
                <a:arcTo hR="128588" wR="128584" stAng="10800000" swAng="5400000"/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17" name="Text 14"/>
          <p:cNvSpPr/>
          <p:nvPr/>
        </p:nvSpPr>
        <p:spPr>
          <a:xfrm>
            <a:off x="835500" y="7052965"/>
            <a:ext cx="336978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Launch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35500" y="7226697"/>
            <a:ext cx="3369781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Karachi bus routes live on the web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308070" y="6950174"/>
            <a:ext cx="3575457" cy="502741"/>
          </a:xfrm>
          <a:prstGeom prst="rect">
            <a:avLst/>
          </a:prstGeom>
          <a:solidFill>
            <a:srgbClr val="0A081B"/>
          </a:solidFill>
          <a:ln/>
        </p:spPr>
      </p:sp>
      <p:sp>
        <p:nvSpPr>
          <p:cNvPr id="20" name="Shape 17"/>
          <p:cNvSpPr/>
          <p:nvPr/>
        </p:nvSpPr>
        <p:spPr>
          <a:xfrm>
            <a:off x="4308070" y="6950174"/>
            <a:ext cx="12700" cy="502741"/>
          </a:xfrm>
          <a:prstGeom prst="roundRect">
            <a:avLst>
              <a:gd name="adj" fmla="val 49999"/>
            </a:avLst>
          </a:prstGeom>
          <a:solidFill>
            <a:srgbClr val="0FC3C0"/>
          </a:solidFill>
          <a:ln/>
        </p:spPr>
      </p:sp>
      <p:sp>
        <p:nvSpPr>
          <p:cNvPr id="21" name="Text 18"/>
          <p:cNvSpPr/>
          <p:nvPr/>
        </p:nvSpPr>
        <p:spPr>
          <a:xfrm>
            <a:off x="4410858" y="7052965"/>
            <a:ext cx="336988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🌍</a:t>
            </a:r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Expand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410858" y="7226697"/>
            <a:ext cx="3369881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Scale to Lahore, Islamabad &amp; beyond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883526" y="6950174"/>
            <a:ext cx="3575457" cy="502741"/>
          </a:xfrm>
          <a:custGeom>
            <a:avLst/>
            <a:gdLst/>
            <a:ahLst/>
            <a:cxnLst/>
            <a:rect l="l" t="t" r="r" b="b"/>
            <a:pathLst>
              <a:path w="3575457" h="502741">
                <a:moveTo>
                  <a:pt x="0" y="0"/>
                </a:moveTo>
                <a:lnTo>
                  <a:pt x="3446872" y="0"/>
                </a:lnTo>
                <a:arcTo hR="128588" wR="128584" stAng="16200000" swAng="5400000"/>
                <a:lnTo>
                  <a:pt x="3575457" y="374154"/>
                </a:lnTo>
                <a:arcTo hR="128588" wR="128584" stAng="0" swAng="5400000"/>
                <a:lnTo>
                  <a:pt x="0" y="502741"/>
                </a:lnTo>
                <a:lnTo>
                  <a:pt x="0" y="0"/>
                </a:lnTo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24" name="Shape 21"/>
          <p:cNvSpPr/>
          <p:nvPr/>
        </p:nvSpPr>
        <p:spPr>
          <a:xfrm>
            <a:off x="7883526" y="6950174"/>
            <a:ext cx="12700" cy="502741"/>
          </a:xfrm>
          <a:prstGeom prst="roundRect">
            <a:avLst>
              <a:gd name="adj" fmla="val 49999"/>
            </a:avLst>
          </a:prstGeom>
          <a:solidFill>
            <a:srgbClr val="1D8DCD"/>
          </a:solidFill>
          <a:ln/>
        </p:spPr>
      </p:sp>
      <p:sp>
        <p:nvSpPr>
          <p:cNvPr id="25" name="Text 22"/>
          <p:cNvSpPr/>
          <p:nvPr/>
        </p:nvSpPr>
        <p:spPr>
          <a:xfrm>
            <a:off x="7986314" y="7052965"/>
            <a:ext cx="336988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🤝</a:t>
            </a:r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Improve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986314" y="7226697"/>
            <a:ext cx="3369881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Community-driven updates keep data fresh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2026-09-17T11:28:46Z</dcterms:created>
  <dcterms:modified xsi:type="dcterms:W3CDTF">2026-09-17T11:28:46Z</dcterms:modified>
</cp:coreProperties>
</file>